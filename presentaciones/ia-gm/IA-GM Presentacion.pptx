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45720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FFFFFF">
                    <a:alpha val="4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IA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-1280160" y="-1280160"/>
            <a:ext cx="5486400" cy="5486400"/>
          </a:xfrm>
          <a:prstGeom prst="ellipse">
            <a:avLst/>
          </a:prstGeom>
          <a:solidFill>
            <a:srgbClr val="2A2D33"/>
          </a:solidFill>
          <a:ln w="12700">
            <a:solidFill>
              <a:srgbClr val="FF9E33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-548640"/>
            <a:ext cx="3657600" cy="3657600"/>
          </a:xfrm>
          <a:prstGeom prst="ellipse">
            <a:avLst/>
          </a:prstGeom>
          <a:solidFill>
            <a:srgbClr val="2A2D33"/>
          </a:solidFill>
          <a:ln w="12700">
            <a:solidFill>
              <a:srgbClr val="FF9E33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9E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GM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 Transport 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017520" y="3108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850392"/>
            <a:ext cx="274320" cy="36576"/>
          </a:xfrm>
          <a:prstGeom prst="rect">
            <a:avLst/>
          </a:prstGeom>
          <a:solidFill>
            <a:srgbClr val="FF9E33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8046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9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INTELIGENTE DEL ERP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00584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IA-</a:t>
            </a:r>
            <a:pPr indent="0" marL="0">
              <a:buNone/>
            </a:pPr>
            <a:r>
              <a:rPr lang="en-US" sz="14000" b="1" dirty="0">
                <a:solidFill>
                  <a:srgbClr val="F3791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GM</a:t>
            </a:r>
            <a:endParaRPr lang="en-US" sz="14000" dirty="0"/>
          </a:p>
        </p:txBody>
      </p:sp>
      <p:sp>
        <p:nvSpPr>
          <p:cNvPr id="10" name="Text 8"/>
          <p:cNvSpPr/>
          <p:nvPr/>
        </p:nvSpPr>
        <p:spPr>
          <a:xfrm>
            <a:off x="457200" y="3401568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1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Inteligente del ERP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385876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tu ERP en lenguaje natural. Respuestas inmediatas, sin reportes, sin menús.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Transport Software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06240" y="4946904"/>
            <a:ext cx="182880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48463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gmtransporterp.com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14630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46888"/>
            <a:ext cx="274320" cy="36576"/>
          </a:xfrm>
          <a:prstGeom prst="rect">
            <a:avLst/>
          </a:prstGeom>
          <a:solidFill>
            <a:srgbClr val="F3791E"/>
          </a:solidFill>
          <a:ln/>
        </p:spPr>
      </p:sp>
      <p:sp>
        <p:nvSpPr>
          <p:cNvPr id="4" name="Text 2"/>
          <p:cNvSpPr/>
          <p:nvPr/>
        </p:nvSpPr>
        <p:spPr>
          <a:xfrm>
            <a:off x="795528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3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A2D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Pregúntale al ERP.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2A2D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Obtén la respuesta.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84048" y="1755648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216" y="199339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FF1E3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2157984"/>
            <a:ext cx="182880" cy="182880"/>
          </a:xfrm>
          <a:prstGeom prst="ellipse">
            <a:avLst/>
          </a:prstGeom>
          <a:solidFill>
            <a:srgbClr val="F3791E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6974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D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Consulta en segundos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66928" y="3218688"/>
            <a:ext cx="23042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abrir reportes ni navegar menús. Escribe la pregunta y listo.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755648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47288" y="199339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FF1E3"/>
          </a:solidFill>
          <a:ln/>
        </p:spPr>
      </p:sp>
      <p:sp>
        <p:nvSpPr>
          <p:cNvPr id="13" name="Shape 11"/>
          <p:cNvSpPr/>
          <p:nvPr/>
        </p:nvSpPr>
        <p:spPr>
          <a:xfrm>
            <a:off x="3611880" y="2157984"/>
            <a:ext cx="182880" cy="182880"/>
          </a:xfrm>
          <a:prstGeom prst="ellipse">
            <a:avLst/>
          </a:prstGeom>
          <a:solidFill>
            <a:srgbClr val="F3791E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26974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D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Lenguaje natural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29000" y="3218688"/>
            <a:ext cx="23042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como si le mandaras un mensaje. IA-GM entiende el contexto.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08192" y="1755648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99339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FF1E3"/>
          </a:solidFill>
          <a:ln/>
        </p:spPr>
      </p:sp>
      <p:sp>
        <p:nvSpPr>
          <p:cNvPr id="18" name="Shape 16"/>
          <p:cNvSpPr/>
          <p:nvPr/>
        </p:nvSpPr>
        <p:spPr>
          <a:xfrm>
            <a:off x="6473952" y="2157984"/>
            <a:ext cx="182880" cy="182880"/>
          </a:xfrm>
          <a:prstGeom prst="ellipse">
            <a:avLst/>
          </a:prstGeom>
          <a:solidFill>
            <a:srgbClr val="F3791E"/>
          </a:solidFill>
          <a:ln/>
        </p:spPr>
      </p:sp>
      <p:sp>
        <p:nvSpPr>
          <p:cNvPr id="19" name="Text 17"/>
          <p:cNvSpPr/>
          <p:nvPr/>
        </p:nvSpPr>
        <p:spPr>
          <a:xfrm>
            <a:off x="6291072" y="26974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D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Datos en tiempo real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291072" y="3218688"/>
            <a:ext cx="23042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directo al ERP. La información que ves es la del sistema, al momento.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10312"/>
            <a:ext cx="274320" cy="36576"/>
          </a:xfrm>
          <a:prstGeom prst="rect">
            <a:avLst/>
          </a:prstGeom>
          <a:solidFill>
            <a:srgbClr val="F3791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3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DE CONSULTA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402336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2A2D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 que puedes preguntar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7114032" y="256032"/>
            <a:ext cx="1737360" cy="438912"/>
          </a:xfrm>
          <a:prstGeom prst="roundRect">
            <a:avLst>
              <a:gd name="adj" fmla="val 16667"/>
            </a:avLst>
          </a:prstGeom>
          <a:solidFill>
            <a:srgbClr val="2A2D33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274320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lenguaje natural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2834640" cy="329184"/>
          </a:xfrm>
          <a:prstGeom prst="roundRect">
            <a:avLst>
              <a:gd name="adj" fmla="val 16667"/>
            </a:avLst>
          </a:prstGeom>
          <a:solidFill>
            <a:srgbClr val="2A2D33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31673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9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 Y UNIDADES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719072"/>
            <a:ext cx="2834640" cy="457200"/>
          </a:xfrm>
          <a:prstGeom prst="roundRect">
            <a:avLst>
              <a:gd name="adj" fmla="val 14000"/>
            </a:avLst>
          </a:prstGeom>
          <a:solidFill>
            <a:srgbClr val="FFF6EE"/>
          </a:solidFill>
          <a:ln w="9525">
            <a:solidFill>
              <a:srgbClr val="F3791E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737360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viajes tengo hoy?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249424"/>
            <a:ext cx="28346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4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267712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viajes están en ruta?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779776"/>
            <a:ext cx="2834640" cy="457200"/>
          </a:xfrm>
          <a:prstGeom prst="roundRect">
            <a:avLst>
              <a:gd name="adj" fmla="val 14000"/>
            </a:avLst>
          </a:prstGeom>
          <a:solidFill>
            <a:srgbClr val="FFF6EE"/>
          </a:solidFill>
          <a:ln w="9525">
            <a:solidFill>
              <a:srgbClr val="F3791E">
                <a:alpha val="3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2798064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viajes están pendientes de liquidar?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310128"/>
            <a:ext cx="28346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4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328416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unidades están disponibles?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840480"/>
            <a:ext cx="2834640" cy="457200"/>
          </a:xfrm>
          <a:prstGeom prst="roundRect">
            <a:avLst>
              <a:gd name="adj" fmla="val 14000"/>
            </a:avLst>
          </a:prstGeom>
          <a:solidFill>
            <a:srgbClr val="FFF6EE"/>
          </a:solidFill>
          <a:ln w="9525">
            <a:solidFill>
              <a:srgbClr val="F3791E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858768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operadores con más viajes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4370832"/>
            <a:ext cx="28346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4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4389120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fue el último viaje de TR-118?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46120" y="1298448"/>
            <a:ext cx="2834640" cy="329184"/>
          </a:xfrm>
          <a:prstGeom prst="roundRect">
            <a:avLst>
              <a:gd name="adj" fmla="val 16667"/>
            </a:avLst>
          </a:prstGeom>
          <a:solidFill>
            <a:srgbClr val="2A2D33"/>
          </a:solidFill>
          <a:ln/>
        </p:spPr>
      </p:sp>
      <p:sp>
        <p:nvSpPr>
          <p:cNvPr id="22" name="Text 20"/>
          <p:cNvSpPr/>
          <p:nvPr/>
        </p:nvSpPr>
        <p:spPr>
          <a:xfrm>
            <a:off x="3355848" y="131673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9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COBRANZA Y FINANZAS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1719072"/>
            <a:ext cx="2834640" cy="457200"/>
          </a:xfrm>
          <a:prstGeom prst="roundRect">
            <a:avLst>
              <a:gd name="adj" fmla="val 14000"/>
            </a:avLst>
          </a:prstGeom>
          <a:solidFill>
            <a:srgbClr val="FFF6EE"/>
          </a:solidFill>
          <a:ln w="9525">
            <a:solidFill>
              <a:srgbClr val="F3791E">
                <a:alpha val="3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1737360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estado de cuenta del cliente X?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46120" y="2249424"/>
            <a:ext cx="28346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4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2267712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clientes tienen adeudo de más de 15 días?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46120" y="2779776"/>
            <a:ext cx="2834640" cy="457200"/>
          </a:xfrm>
          <a:prstGeom prst="roundRect">
            <a:avLst>
              <a:gd name="adj" fmla="val 14000"/>
            </a:avLst>
          </a:prstGeom>
          <a:solidFill>
            <a:srgbClr val="FFF6EE"/>
          </a:solidFill>
          <a:ln w="9525">
            <a:solidFill>
              <a:srgbClr val="F3791E">
                <a:alpha val="3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2798064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¿Cuáles son los costos de liquidación del mes?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46120" y="3310128"/>
            <a:ext cx="28346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4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3328416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saldo disponible en el banco?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246120" y="3840480"/>
            <a:ext cx="2834640" cy="457200"/>
          </a:xfrm>
          <a:prstGeom prst="roundRect">
            <a:avLst>
              <a:gd name="adj" fmla="val 14000"/>
            </a:avLst>
          </a:prstGeom>
          <a:solidFill>
            <a:srgbClr val="FFF6EE"/>
          </a:solidFill>
          <a:ln w="9525">
            <a:solidFill>
              <a:srgbClr val="F3791E">
                <a:alpha val="3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3858768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cheques están pendientes de cobro?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246120" y="4370832"/>
            <a:ext cx="28346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4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55848" y="4389120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retenciones están pendientes de pago?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44768" y="1298448"/>
            <a:ext cx="2834640" cy="329184"/>
          </a:xfrm>
          <a:prstGeom prst="roundRect">
            <a:avLst>
              <a:gd name="adj" fmla="val 16667"/>
            </a:avLst>
          </a:prstGeom>
          <a:solidFill>
            <a:srgbClr val="2A2D33"/>
          </a:solidFill>
          <a:ln/>
        </p:spPr>
      </p:sp>
      <p:sp>
        <p:nvSpPr>
          <p:cNvPr id="36" name="Text 34"/>
          <p:cNvSpPr/>
          <p:nvPr/>
        </p:nvSpPr>
        <p:spPr>
          <a:xfrm>
            <a:off x="6254496" y="131673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9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FLOTA Y DOCUMENTOS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44768" y="1719072"/>
            <a:ext cx="2834640" cy="457200"/>
          </a:xfrm>
          <a:prstGeom prst="roundRect">
            <a:avLst>
              <a:gd name="adj" fmla="val 14000"/>
            </a:avLst>
          </a:prstGeom>
          <a:solidFill>
            <a:srgbClr val="FFF6EE"/>
          </a:solidFill>
          <a:ln w="9525">
            <a:solidFill>
              <a:srgbClr val="F3791E">
                <a:alpha val="3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54496" y="1737360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mantenimientos están programados esta semana?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144768" y="2249424"/>
            <a:ext cx="28346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4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54496" y="2267712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de cargas de combustible del mes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144768" y="2779776"/>
            <a:ext cx="2834640" cy="457200"/>
          </a:xfrm>
          <a:prstGeom prst="roundRect">
            <a:avLst>
              <a:gd name="adj" fmla="val 14000"/>
            </a:avLst>
          </a:prstGeom>
          <a:solidFill>
            <a:srgbClr val="FFF6EE"/>
          </a:solidFill>
          <a:ln w="9525">
            <a:solidFill>
              <a:srgbClr val="F3791E">
                <a:alpha val="3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54496" y="2798064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llantas están instaladas en la unidad X?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144768" y="3310128"/>
            <a:ext cx="28346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4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54496" y="3328416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vencen las placas de TR-102?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144768" y="3840480"/>
            <a:ext cx="2834640" cy="457200"/>
          </a:xfrm>
          <a:prstGeom prst="roundRect">
            <a:avLst>
              <a:gd name="adj" fmla="val 14000"/>
            </a:avLst>
          </a:prstGeom>
          <a:solidFill>
            <a:srgbClr val="FFF6EE"/>
          </a:solidFill>
          <a:ln w="9525">
            <a:solidFill>
              <a:srgbClr val="F3791E">
                <a:alpha val="3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54496" y="3858768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seguros vencen este mes?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144768" y="4370832"/>
            <a:ext cx="28346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4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54496" y="4389120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SCT próximos a vencer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10312"/>
            <a:ext cx="274320" cy="36576"/>
          </a:xfrm>
          <a:prstGeom prst="rect">
            <a:avLst/>
          </a:prstGeom>
          <a:solidFill>
            <a:srgbClr val="F3791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3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ACTUAL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402336"/>
            <a:ext cx="7498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A2D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7 módulos del ERP, todos conectados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772400" y="146304"/>
            <a:ext cx="1024128" cy="877824"/>
          </a:xfrm>
          <a:prstGeom prst="roundRect">
            <a:avLst>
              <a:gd name="adj" fmla="val 10417"/>
            </a:avLst>
          </a:prstGeom>
          <a:solidFill>
            <a:srgbClr val="2A2D3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82880"/>
            <a:ext cx="1024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E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7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772400" y="65836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01752" y="1298448"/>
            <a:ext cx="2084832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" y="1499616"/>
            <a:ext cx="100584" cy="100584"/>
          </a:xfrm>
          <a:prstGeom prst="ellipse">
            <a:avLst/>
          </a:prstGeom>
          <a:solidFill>
            <a:srgbClr val="F3791E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42646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D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Tráfico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792224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 activos, cancelados, liquidados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12140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periodo, cliente u operador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45059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In Time y top operadores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78024" y="1298448"/>
            <a:ext cx="2084832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24328" y="1499616"/>
            <a:ext cx="100584" cy="100584"/>
          </a:xfrm>
          <a:prstGeom prst="ellipse">
            <a:avLst/>
          </a:prstGeom>
          <a:solidFill>
            <a:srgbClr val="F3791E"/>
          </a:solidFill>
          <a:ln/>
        </p:spPr>
      </p:sp>
      <p:sp>
        <p:nvSpPr>
          <p:cNvPr id="16" name="Text 14"/>
          <p:cNvSpPr/>
          <p:nvPr/>
        </p:nvSpPr>
        <p:spPr>
          <a:xfrm>
            <a:off x="2770632" y="142646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D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Unidades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87752" y="1792224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Activas, en ruta o inactivas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87752" y="212140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o sin carga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87752" y="245059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 viaje y estatus actual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54296" y="1298448"/>
            <a:ext cx="2084832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1499616"/>
            <a:ext cx="100584" cy="100584"/>
          </a:xfrm>
          <a:prstGeom prst="ellipse">
            <a:avLst/>
          </a:prstGeom>
          <a:solidFill>
            <a:srgbClr val="F3791E"/>
          </a:solidFill>
          <a:ln/>
        </p:spPr>
      </p:sp>
      <p:sp>
        <p:nvSpPr>
          <p:cNvPr id="22" name="Text 20"/>
          <p:cNvSpPr/>
          <p:nvPr/>
        </p:nvSpPr>
        <p:spPr>
          <a:xfrm>
            <a:off x="4946904" y="142646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D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Facturación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64024" y="1792224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Liquidaciones pendientes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64024" y="212140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por periodo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64024" y="245059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Liquidaciones autorizadas y cerradas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30568" y="1298448"/>
            <a:ext cx="2084832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76872" y="1499616"/>
            <a:ext cx="100584" cy="100584"/>
          </a:xfrm>
          <a:prstGeom prst="ellipse">
            <a:avLst/>
          </a:prstGeom>
          <a:solidFill>
            <a:srgbClr val="F3791E"/>
          </a:solidFill>
          <a:ln/>
        </p:spPr>
      </p:sp>
      <p:sp>
        <p:nvSpPr>
          <p:cNvPr id="28" name="Text 26"/>
          <p:cNvSpPr/>
          <p:nvPr/>
        </p:nvSpPr>
        <p:spPr>
          <a:xfrm>
            <a:off x="7123176" y="142646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D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Cobranza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0296" y="1792224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cuenta por cliente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0296" y="212140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Adeudos por antigüedad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0296" y="245059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con mayor adeudo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01752" y="2944368"/>
            <a:ext cx="2084832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8056" y="3145536"/>
            <a:ext cx="100584" cy="100584"/>
          </a:xfrm>
          <a:prstGeom prst="ellipse">
            <a:avLst/>
          </a:prstGeom>
          <a:solidFill>
            <a:srgbClr val="F3791E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307238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D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CxP y Bancos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11480" y="3438144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Saldos y movimientos bancarios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1480" y="376732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Cheques y contra recibos pendientes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" y="409651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Retenciones y pagos a proveedores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478024" y="2944368"/>
            <a:ext cx="2084832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624328" y="3145536"/>
            <a:ext cx="100584" cy="100584"/>
          </a:xfrm>
          <a:prstGeom prst="ellipse">
            <a:avLst/>
          </a:prstGeom>
          <a:solidFill>
            <a:srgbClr val="F3791E"/>
          </a:solidFill>
          <a:ln/>
        </p:spPr>
      </p:sp>
      <p:sp>
        <p:nvSpPr>
          <p:cNvPr id="40" name="Text 38"/>
          <p:cNvSpPr/>
          <p:nvPr/>
        </p:nvSpPr>
        <p:spPr>
          <a:xfrm>
            <a:off x="2770632" y="307238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D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Mantenimiento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587752" y="3438144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programados e historial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587752" y="376732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Combustible: existencia y bitácora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587752" y="409651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por unidad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54296" y="2944368"/>
            <a:ext cx="2084832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4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00600" y="3145536"/>
            <a:ext cx="100584" cy="100584"/>
          </a:xfrm>
          <a:prstGeom prst="ellipse">
            <a:avLst/>
          </a:prstGeom>
          <a:solidFill>
            <a:srgbClr val="F3791E"/>
          </a:solidFill>
          <a:ln/>
        </p:spPr>
      </p:sp>
      <p:sp>
        <p:nvSpPr>
          <p:cNvPr id="46" name="Text 44"/>
          <p:cNvSpPr/>
          <p:nvPr/>
        </p:nvSpPr>
        <p:spPr>
          <a:xfrm>
            <a:off x="4946904" y="307238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D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Llantas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764024" y="3438144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Instaladas, gastadas, en recubrimiento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764024" y="376732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y vida útil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64024" y="409651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reposiciones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830568" y="2944368"/>
            <a:ext cx="2084832" cy="1572768"/>
          </a:xfrm>
          <a:prstGeom prst="roundRect">
            <a:avLst>
              <a:gd name="adj" fmla="val 5814"/>
            </a:avLst>
          </a:prstGeom>
          <a:solidFill>
            <a:srgbClr val="FFF1E3"/>
          </a:solidFill>
          <a:ln w="9525">
            <a:solidFill>
              <a:srgbClr val="DC5E00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976872" y="3145536"/>
            <a:ext cx="100584" cy="100584"/>
          </a:xfrm>
          <a:prstGeom prst="ellipse">
            <a:avLst/>
          </a:prstGeom>
          <a:solidFill>
            <a:srgbClr val="F3791E"/>
          </a:solidFill>
          <a:ln/>
        </p:spPr>
      </p:sp>
      <p:sp>
        <p:nvSpPr>
          <p:cNvPr id="52" name="Text 50"/>
          <p:cNvSpPr/>
          <p:nvPr/>
        </p:nvSpPr>
        <p:spPr>
          <a:xfrm>
            <a:off x="7123176" y="307238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5E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Documentos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940296" y="3438144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Vencimiento de placas y seguros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940296" y="376732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SCT próximos a vencer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940296" y="409651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antes del vencimiento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2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274320" cy="36576"/>
          </a:xfrm>
          <a:prstGeom prst="rect">
            <a:avLst/>
          </a:prstGeom>
          <a:solidFill>
            <a:srgbClr val="FF9E33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182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9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Funcionalidades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 la 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3791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app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11480" y="1920240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363A42"/>
          </a:solidFill>
          <a:ln w="9525">
            <a:solidFill>
              <a:srgbClr val="4A5060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3791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9751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Login con credenciales del ERP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cuentas nuevas. Sin contraseñas extra.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532888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363A42"/>
          </a:solidFill>
          <a:ln w="9525">
            <a:solidFill>
              <a:srgbClr val="4A5060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6243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3791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5877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Chat con memoria de contexto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28072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la conversación sin repetir información.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145536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363A42"/>
          </a:solidFill>
          <a:ln w="9525">
            <a:solidFill>
              <a:srgbClr val="4A5060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3697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3791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2004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Catálogo de preguntas predefinidas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05840" y="34198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listas para no empezar desde cero.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758184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363A42"/>
          </a:solidFill>
          <a:ln w="9525">
            <a:solidFill>
              <a:srgbClr val="4A5060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84962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3791E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813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Historial de chats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05840" y="40325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Revisa, renombra o elimina conversaciones pasadas.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4370832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363A42"/>
          </a:solidFill>
          <a:ln w="9525">
            <a:solidFill>
              <a:srgbClr val="4A5060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46227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3791E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42569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Modo oscuro y reporte de fallas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05840" y="46451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personalizable con soporte integrado.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4983480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2D1A08"/>
          </a:solidFill>
          <a:ln w="9525">
            <a:solidFill>
              <a:srgbClr val="F3791E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0749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3791E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50383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E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Consulta de consumo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05840" y="52578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 el % de uso de IA-GM en el periodo actual.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164592"/>
            <a:ext cx="2468880" cy="4791456"/>
          </a:xfrm>
          <a:prstGeom prst="roundRect">
            <a:avLst>
              <a:gd name="adj" fmla="val 16296"/>
            </a:avLst>
          </a:prstGeom>
          <a:solidFill>
            <a:srgbClr val="16181B"/>
          </a:solidFill>
          <a:ln/>
          <a:effectLst>
            <a:outerShdw sx="100000" sy="100000" kx="0" ky="0" algn="bl" rotWithShape="0" blurRad="381000" dist="63500" dir="8100000">
              <a:srgbClr val="000000">
                <a:alpha val="5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46904" y="265176"/>
            <a:ext cx="2267712" cy="4590288"/>
          </a:xfrm>
          <a:prstGeom prst="roundRect">
            <a:avLst>
              <a:gd name="adj" fmla="val 12903"/>
            </a:avLst>
          </a:prstGeom>
          <a:solidFill>
            <a:srgbClr val="F8F9FA"/>
          </a:solidFill>
          <a:ln/>
        </p:spPr>
      </p:sp>
      <p:sp>
        <p:nvSpPr>
          <p:cNvPr id="31" name="Shape 29"/>
          <p:cNvSpPr/>
          <p:nvPr/>
        </p:nvSpPr>
        <p:spPr>
          <a:xfrm>
            <a:off x="5577840" y="265176"/>
            <a:ext cx="1005840" cy="182880"/>
          </a:xfrm>
          <a:prstGeom prst="roundRect">
            <a:avLst>
              <a:gd name="adj" fmla="val 40000"/>
            </a:avLst>
          </a:prstGeom>
          <a:solidFill>
            <a:srgbClr val="16181B"/>
          </a:solidFill>
          <a:ln/>
        </p:spPr>
      </p:sp>
      <p:sp>
        <p:nvSpPr>
          <p:cNvPr id="32" name="Shape 30"/>
          <p:cNvSpPr/>
          <p:nvPr/>
        </p:nvSpPr>
        <p:spPr>
          <a:xfrm>
            <a:off x="4946904" y="265176"/>
            <a:ext cx="2267712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5047488" y="3566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3791E"/>
          </a:solidFill>
          <a:ln/>
        </p:spPr>
      </p:sp>
      <p:sp>
        <p:nvSpPr>
          <p:cNvPr id="34" name="Text 32"/>
          <p:cNvSpPr/>
          <p:nvPr/>
        </p:nvSpPr>
        <p:spPr>
          <a:xfrm>
            <a:off x="5376672" y="36576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D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IA-GM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76672" y="512064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línea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504688" y="841248"/>
            <a:ext cx="1609344" cy="438912"/>
          </a:xfrm>
          <a:prstGeom prst="roundRect">
            <a:avLst>
              <a:gd name="adj" fmla="val 25000"/>
            </a:avLst>
          </a:prstGeom>
          <a:solidFill>
            <a:srgbClr val="F3791E"/>
          </a:solidFill>
          <a:ln/>
        </p:spPr>
      </p:sp>
      <p:sp>
        <p:nvSpPr>
          <p:cNvPr id="37" name="Text 35"/>
          <p:cNvSpPr/>
          <p:nvPr/>
        </p:nvSpPr>
        <p:spPr>
          <a:xfrm>
            <a:off x="5559552" y="877824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consumo llevo este mes?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992624" y="1389888"/>
            <a:ext cx="193852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65776" y="142646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del periodo: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65776" y="1627632"/>
            <a:ext cx="1664208" cy="9144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41" name="Shape 39"/>
          <p:cNvSpPr/>
          <p:nvPr/>
        </p:nvSpPr>
        <p:spPr>
          <a:xfrm>
            <a:off x="5065776" y="1627632"/>
            <a:ext cx="1131661" cy="91440"/>
          </a:xfrm>
          <a:prstGeom prst="rect">
            <a:avLst/>
          </a:prstGeom>
          <a:solidFill>
            <a:srgbClr val="F3791E"/>
          </a:solidFill>
          <a:ln/>
        </p:spPr>
      </p:sp>
      <p:sp>
        <p:nvSpPr>
          <p:cNvPr id="42" name="Text 40"/>
          <p:cNvSpPr/>
          <p:nvPr/>
        </p:nvSpPr>
        <p:spPr>
          <a:xfrm>
            <a:off x="5065776" y="175564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D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68%</a:t>
            </a:r>
            <a:pPr indent="0" marL="0">
              <a:buNone/>
            </a:pPr>
            <a:r>
              <a:rPr lang="en-US" sz="10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tu cuota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41148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IA-GM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206240" y="4946904"/>
            <a:ext cx="182880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48463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Inteligente del ERP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10312"/>
            <a:ext cx="274320" cy="36576"/>
          </a:xfrm>
          <a:prstGeom prst="rect">
            <a:avLst/>
          </a:prstGeom>
          <a:solidFill>
            <a:srgbClr val="F3791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3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41148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A2D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Portal IA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47472" y="11155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permisos de acceso a IA-GM directamente desde el ERP.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" y="17922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3791E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773936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D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Activa o desactiva acceso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1975104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por usuario o en bloque.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23225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3791E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30428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D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Asigna perfiles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2505456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Gerencial, Administrativo u Operativo.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28529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3791E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83464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D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Mismo login del ERP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9808" y="3035808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cuentas nuevas.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" y="3310128"/>
            <a:ext cx="2788920" cy="841248"/>
          </a:xfrm>
          <a:prstGeom prst="roundRect">
            <a:avLst>
              <a:gd name="adj" fmla="val 13043"/>
            </a:avLst>
          </a:prstGeom>
          <a:solidFill>
            <a:srgbClr val="2A2D3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4670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9E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294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57200" y="38130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con IA activa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764792" y="3438144"/>
            <a:ext cx="0" cy="658368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334670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9E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874520" y="38130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disponibles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364992" y="91440"/>
            <a:ext cx="5532120" cy="484632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E4E7EB"/>
            </a:solidFill>
            <a:prstDash val="solid"/>
          </a:ln>
          <a:effectLst>
            <a:outerShdw sx="100000" sy="100000" kx="0" ky="0" algn="bl" rotWithShape="0" blurRad="2540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64992" y="91440"/>
            <a:ext cx="5532120" cy="420624"/>
          </a:xfrm>
          <a:prstGeom prst="roundRect">
            <a:avLst>
              <a:gd name="adj" fmla="val 34783"/>
            </a:avLst>
          </a:prstGeom>
          <a:solidFill>
            <a:srgbClr val="FFFFFF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9584" y="24688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4" name="Shape 22"/>
          <p:cNvSpPr/>
          <p:nvPr/>
        </p:nvSpPr>
        <p:spPr>
          <a:xfrm>
            <a:off x="3712464" y="246888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5" name="Shape 23"/>
          <p:cNvSpPr/>
          <p:nvPr/>
        </p:nvSpPr>
        <p:spPr>
          <a:xfrm>
            <a:off x="3895344" y="24688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6" name="Shape 24"/>
          <p:cNvSpPr/>
          <p:nvPr/>
        </p:nvSpPr>
        <p:spPr>
          <a:xfrm>
            <a:off x="4114800" y="182880"/>
            <a:ext cx="3200400" cy="237744"/>
          </a:xfrm>
          <a:prstGeom prst="roundRect">
            <a:avLst>
              <a:gd name="adj" fmla="val 23077"/>
            </a:avLst>
          </a:prstGeom>
          <a:solidFill>
            <a:srgbClr val="F4F6F8"/>
          </a:solidFill>
          <a:ln/>
        </p:spPr>
      </p:sp>
      <p:sp>
        <p:nvSpPr>
          <p:cNvPr id="27" name="Text 25"/>
          <p:cNvSpPr/>
          <p:nvPr/>
        </p:nvSpPr>
        <p:spPr>
          <a:xfrm>
            <a:off x="4151376" y="2011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1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ia-portal.gmtransport.co/portal/usuarios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64992" y="512064"/>
            <a:ext cx="1591056" cy="4425696"/>
          </a:xfrm>
          <a:prstGeom prst="rect">
            <a:avLst/>
          </a:prstGeom>
          <a:solidFill>
            <a:srgbClr val="2A2D33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62179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E3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GM Portal IA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74720" y="85953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PERMISOS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511296" y="11155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74720" y="13898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438144" y="1591056"/>
            <a:ext cx="1444752" cy="256032"/>
          </a:xfrm>
          <a:prstGeom prst="roundRect">
            <a:avLst>
              <a:gd name="adj" fmla="val 17857"/>
            </a:avLst>
          </a:prstGeom>
          <a:solidFill>
            <a:srgbClr val="F3791E"/>
          </a:solidFill>
          <a:ln/>
        </p:spPr>
      </p:sp>
      <p:sp>
        <p:nvSpPr>
          <p:cNvPr id="34" name="Text 32"/>
          <p:cNvSpPr/>
          <p:nvPr/>
        </p:nvSpPr>
        <p:spPr>
          <a:xfrm>
            <a:off x="3511296" y="15910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43984" y="162763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511296" y="18653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43984" y="190195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511296" y="21396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443984" y="217627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74720" y="24140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PERFIL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511296" y="26151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511296" y="28895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511296" y="31638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992624" y="585216"/>
            <a:ext cx="2011680" cy="27432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0" y="6035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1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usuario...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077456" y="585216"/>
            <a:ext cx="1005840" cy="27432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14032" y="60350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estados ▾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156448" y="585216"/>
            <a:ext cx="676656" cy="274320"/>
          </a:xfrm>
          <a:prstGeom prst="roundRect">
            <a:avLst>
              <a:gd name="adj" fmla="val 23333"/>
            </a:avLst>
          </a:prstGeom>
          <a:solidFill>
            <a:srgbClr val="F3791E"/>
          </a:solidFill>
          <a:ln/>
        </p:spPr>
      </p:sp>
      <p:sp>
        <p:nvSpPr>
          <p:cNvPr id="49" name="Text 47"/>
          <p:cNvSpPr/>
          <p:nvPr/>
        </p:nvSpPr>
        <p:spPr>
          <a:xfrm>
            <a:off x="8174736" y="6035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IA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992624" y="914400"/>
            <a:ext cx="3867912" cy="2743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1" name="Text 49"/>
          <p:cNvSpPr/>
          <p:nvPr/>
        </p:nvSpPr>
        <p:spPr>
          <a:xfrm>
            <a:off x="5029200" y="93268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A1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724144" y="932688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A1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364224" y="9326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A1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406640" y="932688"/>
            <a:ext cx="466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A1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909560" y="93268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A1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IA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458200" y="9326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A1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047488" y="128016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YULIANA D / 113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742432" y="128016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YULIANA DIAZ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382512" y="1280160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ydiaz@tiastica.com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406640" y="1316736"/>
            <a:ext cx="420624" cy="256032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/>
        </p:spPr>
      </p:sp>
      <p:sp>
        <p:nvSpPr>
          <p:cNvPr id="61" name="Text 59"/>
          <p:cNvSpPr/>
          <p:nvPr/>
        </p:nvSpPr>
        <p:spPr>
          <a:xfrm>
            <a:off x="7443216" y="133502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918704" y="1316736"/>
            <a:ext cx="329184" cy="256032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/>
        </p:spPr>
      </p:sp>
      <p:sp>
        <p:nvSpPr>
          <p:cNvPr id="63" name="Text 61"/>
          <p:cNvSpPr/>
          <p:nvPr/>
        </p:nvSpPr>
        <p:spPr>
          <a:xfrm>
            <a:off x="7936992" y="133502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8430768" y="1316736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/>
        </p:spPr>
      </p:sp>
      <p:sp>
        <p:nvSpPr>
          <p:cNvPr id="65" name="Text 63"/>
          <p:cNvSpPr/>
          <p:nvPr/>
        </p:nvSpPr>
        <p:spPr>
          <a:xfrm>
            <a:off x="8449056" y="133502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Gerencial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992624" y="1737360"/>
            <a:ext cx="3867912" cy="475488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67" name="Text 65"/>
          <p:cNvSpPr/>
          <p:nvPr/>
        </p:nvSpPr>
        <p:spPr>
          <a:xfrm>
            <a:off x="5047488" y="1792224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VIVIANAJ / 38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742432" y="179222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VIVIANA JUAREZ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382512" y="1792224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viviana-vz@hotmail.com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7406640" y="1828800"/>
            <a:ext cx="420624" cy="256032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/>
        </p:spPr>
      </p:sp>
      <p:sp>
        <p:nvSpPr>
          <p:cNvPr id="71" name="Text 69"/>
          <p:cNvSpPr/>
          <p:nvPr/>
        </p:nvSpPr>
        <p:spPr>
          <a:xfrm>
            <a:off x="7443216" y="184708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7918704" y="1828800"/>
            <a:ext cx="329184" cy="256032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/>
        </p:spPr>
      </p:sp>
      <p:sp>
        <p:nvSpPr>
          <p:cNvPr id="73" name="Text 71"/>
          <p:cNvSpPr/>
          <p:nvPr/>
        </p:nvSpPr>
        <p:spPr>
          <a:xfrm>
            <a:off x="7936992" y="184708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8430768" y="1828800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/>
        </p:spPr>
      </p:sp>
      <p:sp>
        <p:nvSpPr>
          <p:cNvPr id="75" name="Text 73"/>
          <p:cNvSpPr/>
          <p:nvPr/>
        </p:nvSpPr>
        <p:spPr>
          <a:xfrm>
            <a:off x="8449056" y="184708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Gerencial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5047488" y="230428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/ 96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5742432" y="230428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6382512" y="2304288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XX@XX.COM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406640" y="2340864"/>
            <a:ext cx="420624" cy="256032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/>
        </p:spPr>
      </p:sp>
      <p:sp>
        <p:nvSpPr>
          <p:cNvPr id="80" name="Text 78"/>
          <p:cNvSpPr/>
          <p:nvPr/>
        </p:nvSpPr>
        <p:spPr>
          <a:xfrm>
            <a:off x="7443216" y="235915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7918704" y="2340864"/>
            <a:ext cx="329184" cy="256032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/>
        </p:spPr>
      </p:sp>
      <p:sp>
        <p:nvSpPr>
          <p:cNvPr id="82" name="Text 80"/>
          <p:cNvSpPr/>
          <p:nvPr/>
        </p:nvSpPr>
        <p:spPr>
          <a:xfrm>
            <a:off x="7936992" y="23591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8430768" y="2340864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/>
        </p:spPr>
      </p:sp>
      <p:sp>
        <p:nvSpPr>
          <p:cNvPr id="84" name="Text 82"/>
          <p:cNvSpPr/>
          <p:nvPr/>
        </p:nvSpPr>
        <p:spPr>
          <a:xfrm>
            <a:off x="8449056" y="23591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Gerencial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4992624" y="2761488"/>
            <a:ext cx="3867912" cy="475488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86" name="Text 84"/>
          <p:cNvSpPr/>
          <p:nvPr/>
        </p:nvSpPr>
        <p:spPr>
          <a:xfrm>
            <a:off x="5047488" y="281635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 / 176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5742432" y="281635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6382512" y="2816352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roberto.desarrollo@gmtransporterp.com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406640" y="2852928"/>
            <a:ext cx="420624" cy="256032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/>
        </p:spPr>
      </p:sp>
      <p:sp>
        <p:nvSpPr>
          <p:cNvPr id="90" name="Text 88"/>
          <p:cNvSpPr/>
          <p:nvPr/>
        </p:nvSpPr>
        <p:spPr>
          <a:xfrm>
            <a:off x="7443216" y="287121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7918704" y="2852928"/>
            <a:ext cx="329184" cy="256032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/>
        </p:spPr>
      </p:sp>
      <p:sp>
        <p:nvSpPr>
          <p:cNvPr id="92" name="Text 90"/>
          <p:cNvSpPr/>
          <p:nvPr/>
        </p:nvSpPr>
        <p:spPr>
          <a:xfrm>
            <a:off x="7936992" y="2871216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8430768" y="2852928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/>
        </p:spPr>
      </p:sp>
      <p:sp>
        <p:nvSpPr>
          <p:cNvPr id="94" name="Text 92"/>
          <p:cNvSpPr/>
          <p:nvPr/>
        </p:nvSpPr>
        <p:spPr>
          <a:xfrm>
            <a:off x="8449056" y="287121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Gerencial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C6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914400"/>
            <a:ext cx="4572000" cy="4572000"/>
          </a:xfrm>
          <a:prstGeom prst="ellipse">
            <a:avLst/>
          </a:prstGeom>
          <a:solidFill>
            <a:srgbClr val="C05000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-365760"/>
            <a:ext cx="3108960" cy="3108960"/>
          </a:xfrm>
          <a:prstGeom prst="ellipse">
            <a:avLst/>
          </a:prstGeom>
          <a:solidFill>
            <a:srgbClr val="C05000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1828800"/>
            <a:ext cx="3657600" cy="3657600"/>
          </a:xfrm>
          <a:prstGeom prst="ellipse">
            <a:avLst/>
          </a:prstGeom>
          <a:solidFill>
            <a:srgbClr val="C05000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AL CLIENTE Y SOPORTE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548640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IA-</a:t>
            </a:r>
            <a:pPr algn="ctr" indent="0" marL="0">
              <a:buNone/>
            </a:pPr>
            <a:r>
              <a:rPr lang="en-US" sz="12000" b="1" dirty="0">
                <a:solidFill>
                  <a:srgbClr val="FFD0A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GM</a:t>
            </a:r>
            <a:endParaRPr lang="en-US" sz="12000" dirty="0"/>
          </a:p>
        </p:txBody>
      </p:sp>
      <p:sp>
        <p:nvSpPr>
          <p:cNvPr id="7" name="Shape 5"/>
          <p:cNvSpPr/>
          <p:nvPr/>
        </p:nvSpPr>
        <p:spPr>
          <a:xfrm>
            <a:off x="1188720" y="3200400"/>
            <a:ext cx="3108960" cy="658368"/>
          </a:xfrm>
          <a:prstGeom prst="roundRect">
            <a:avLst>
              <a:gd name="adj" fmla="val 13889"/>
            </a:avLst>
          </a:prstGeom>
          <a:solidFill>
            <a:srgbClr val="FFFFFF">
              <a:alpha val="24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20040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(686) 564-9263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0" y="3200400"/>
            <a:ext cx="3419856" cy="658368"/>
          </a:xfrm>
          <a:prstGeom prst="roundRect">
            <a:avLst>
              <a:gd name="adj" fmla="val 13889"/>
            </a:avLst>
          </a:prstGeom>
          <a:solidFill>
            <a:srgbClr val="FFFFFF">
              <a:alpha val="24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3200400"/>
            <a:ext cx="3419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servicio.soporte@gmtransporterp.com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3159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0A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GM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 Transport </a:t>
            </a:r>
            <a:pPr algn="ctr" indent="0" marL="0">
              <a:buNone/>
            </a:pPr>
            <a:r>
              <a:rPr lang="en-US" sz="1000" b="1" spc="200" kern="0" dirty="0">
                <a:solidFill>
                  <a:srgbClr val="FFD0A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SOFTWARE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IA-GM — Consulta Inteligente del ERP</dc:title>
  <dc:subject>PptxGenJS Presentation</dc:subject>
  <dc:creator>PptxGenJS</dc:creator>
  <cp:lastModifiedBy>PptxGenJS</cp:lastModifiedBy>
  <cp:revision>1</cp:revision>
  <dcterms:created xsi:type="dcterms:W3CDTF">2026-06-05T15:40:27Z</dcterms:created>
  <dcterms:modified xsi:type="dcterms:W3CDTF">2026-06-05T15:40:27Z</dcterms:modified>
</cp:coreProperties>
</file>